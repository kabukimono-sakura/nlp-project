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3" r:id="rId3"/>
  </p:sldMasterIdLst>
  <p:notesMasterIdLst>
    <p:notesMasterId r:id="rId5"/>
  </p:notesMasterIdLst>
  <p:sldIdLst>
    <p:sldId id="256" r:id="rId4"/>
    <p:sldId id="349" r:id="rId6"/>
    <p:sldId id="258" r:id="rId7"/>
    <p:sldId id="360" r:id="rId8"/>
    <p:sldId id="368" r:id="rId9"/>
    <p:sldId id="367" r:id="rId10"/>
  </p:sldIdLst>
  <p:sldSz cx="12192000" cy="6858000"/>
  <p:notesSz cx="6858000" cy="9144000"/>
  <p:embeddedFontLst>
    <p:embeddedFont>
      <p:font typeface="Century Gothic" panose="020B0502020202020204"/>
      <p:regular r:id="rId14"/>
      <p:bold r:id="rId15"/>
      <p:italic r:id="rId16"/>
      <p:boldItalic r:id="rId17"/>
    </p:embeddedFont>
    <p:embeddedFont>
      <p:font typeface="微软雅黑" panose="020B0503020204020204" charset="-122"/>
      <p:regular r:id="rId18"/>
      <p:bold r:id="rId19"/>
    </p:embeddedFont>
    <p:embeddedFont>
      <p:font typeface="华文宋体" panose="02010600040101010101" charset="-122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8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81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/>
          </a:p>
        </p:txBody>
      </p:sp>
      <p:sp>
        <p:nvSpPr>
          <p:cNvPr id="38" name="Google Shape;38;p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5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47d8f87f3_0_7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a47d8f87f3_0_7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43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47d8f87f3_0_7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a47d8f87f3_0_7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43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">
  <p:cSld name="15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6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9548568" y="127755"/>
            <a:ext cx="2408981" cy="439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6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14" name="Google Shape;14;p26"/>
            <p:cNvSpPr/>
            <p:nvPr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rgbClr val="E9F0F5"/>
                </a:gs>
                <a:gs pos="100000">
                  <a:srgbClr val="EE752E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15" name="Google Shape;15;p26"/>
            <p:cNvSpPr/>
            <p:nvPr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>
              <a:gsLst>
                <a:gs pos="0">
                  <a:srgbClr val="636399"/>
                </a:gs>
                <a:gs pos="25000">
                  <a:srgbClr val="85B0D4"/>
                </a:gs>
                <a:gs pos="100000">
                  <a:srgbClr val="E9F0F5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</p:grpSp>
      <p:sp>
        <p:nvSpPr>
          <p:cNvPr id="17" name="Google Shape;17;p26"/>
          <p:cNvSpPr/>
          <p:nvPr userDrawn="1"/>
        </p:nvSpPr>
        <p:spPr>
          <a:xfrm>
            <a:off x="679360" y="0"/>
            <a:ext cx="432000" cy="612000"/>
          </a:xfrm>
          <a:custGeom>
            <a:avLst/>
            <a:gdLst/>
            <a:ahLst/>
            <a:cxnLst/>
            <a:rect l="l" t="t" r="r" b="b"/>
            <a:pathLst>
              <a:path w="675" h="800" extrusionOk="0">
                <a:moveTo>
                  <a:pt x="675" y="800"/>
                </a:moveTo>
                <a:lnTo>
                  <a:pt x="334" y="666"/>
                </a:lnTo>
                <a:lnTo>
                  <a:pt x="0" y="800"/>
                </a:lnTo>
                <a:lnTo>
                  <a:pt x="0" y="0"/>
                </a:lnTo>
                <a:lnTo>
                  <a:pt x="675" y="0"/>
                </a:lnTo>
                <a:lnTo>
                  <a:pt x="675" y="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8" name="Google Shape;18;p26"/>
          <p:cNvSpPr txBox="1"/>
          <p:nvPr userDrawn="1"/>
        </p:nvSpPr>
        <p:spPr>
          <a:xfrm>
            <a:off x="679360" y="89655"/>
            <a:ext cx="43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400" b="1">
                <a:solidFill>
                  <a:srgbClr val="F8F8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fld>
            <a:endParaRPr sz="1400" b="1">
              <a:solidFill>
                <a:srgbClr val="F8F8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Google Shape;28;p27"/>
          <p:cNvSpPr txBox="1"/>
          <p:nvPr userDrawn="1"/>
        </p:nvSpPr>
        <p:spPr>
          <a:xfrm>
            <a:off x="0" y="191135"/>
            <a:ext cx="12192000" cy="637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 eaLnBrk="1" fontAlgn="auto" latinLnBrk="0" hangingPunct="1">
              <a:lnSpc>
                <a:spcPts val="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0" b="1">
                <a:solidFill>
                  <a:srgbClr val="F5F5F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NLP-Project</a:t>
            </a:r>
            <a:endParaRPr lang="en-US" altLang="zh-CN" sz="21000" b="1">
              <a:solidFill>
                <a:srgbClr val="F5F5F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Slide">
  <p:cSld name="17_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7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9548568" y="127755"/>
            <a:ext cx="2408981" cy="439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7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23" name="Google Shape;23;p27"/>
            <p:cNvSpPr/>
            <p:nvPr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rgbClr val="E9F0F5"/>
                </a:gs>
                <a:gs pos="100000">
                  <a:srgbClr val="EE752E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24" name="Google Shape;24;p27"/>
            <p:cNvSpPr/>
            <p:nvPr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>
              <a:gsLst>
                <a:gs pos="0">
                  <a:srgbClr val="636399"/>
                </a:gs>
                <a:gs pos="25000">
                  <a:srgbClr val="85B0D4"/>
                </a:gs>
                <a:gs pos="100000">
                  <a:srgbClr val="E9F0F5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</p:grpSp>
      <p:grpSp>
        <p:nvGrpSpPr>
          <p:cNvPr id="25" name="Google Shape;25;p27"/>
          <p:cNvGrpSpPr/>
          <p:nvPr userDrawn="1"/>
        </p:nvGrpSpPr>
        <p:grpSpPr>
          <a:xfrm>
            <a:off x="128905" y="106680"/>
            <a:ext cx="3020695" cy="568960"/>
            <a:chOff x="96456" y="106386"/>
            <a:chExt cx="2758631" cy="568939"/>
          </a:xfrm>
        </p:grpSpPr>
        <p:sp>
          <p:nvSpPr>
            <p:cNvPr id="26" name="Google Shape;26;p27"/>
            <p:cNvSpPr/>
            <p:nvPr/>
          </p:nvSpPr>
          <p:spPr>
            <a:xfrm>
              <a:off x="96456" y="108595"/>
              <a:ext cx="2758631" cy="566730"/>
            </a:xfrm>
            <a:prstGeom prst="homePlate">
              <a:avLst>
                <a:gd name="adj" fmla="val 50000"/>
              </a:avLst>
            </a:prstGeom>
            <a:solidFill>
              <a:srgbClr val="D3E1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rgbClr val="345D7E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27" name="Google Shape;27;p27"/>
            <p:cNvSpPr/>
            <p:nvPr/>
          </p:nvSpPr>
          <p:spPr>
            <a:xfrm>
              <a:off x="2542569" y="106386"/>
              <a:ext cx="312518" cy="566730"/>
            </a:xfrm>
            <a:prstGeom prst="chevron">
              <a:avLst>
                <a:gd name="adj" fmla="val 50000"/>
              </a:avLst>
            </a:prstGeom>
            <a:solidFill>
              <a:schemeClr val="accent6"/>
            </a:solidFill>
            <a:ln w="38100" cap="flat" cmpd="sng">
              <a:solidFill>
                <a:srgbClr val="E9F0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</p:grpSp>
      <p:sp>
        <p:nvSpPr>
          <p:cNvPr id="29" name="Google Shape;29;p27"/>
          <p:cNvSpPr/>
          <p:nvPr userDrawn="1"/>
        </p:nvSpPr>
        <p:spPr>
          <a:xfrm rot="5400000">
            <a:off x="11584322" y="5898239"/>
            <a:ext cx="432000" cy="792000"/>
          </a:xfrm>
          <a:custGeom>
            <a:avLst/>
            <a:gdLst/>
            <a:ahLst/>
            <a:cxnLst/>
            <a:rect l="l" t="t" r="r" b="b"/>
            <a:pathLst>
              <a:path w="675" h="800" extrusionOk="0">
                <a:moveTo>
                  <a:pt x="675" y="800"/>
                </a:moveTo>
                <a:lnTo>
                  <a:pt x="334" y="666"/>
                </a:lnTo>
                <a:lnTo>
                  <a:pt x="0" y="800"/>
                </a:lnTo>
                <a:lnTo>
                  <a:pt x="0" y="0"/>
                </a:lnTo>
                <a:lnTo>
                  <a:pt x="675" y="0"/>
                </a:lnTo>
                <a:lnTo>
                  <a:pt x="675" y="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0" name="Google Shape;30;p27"/>
          <p:cNvSpPr txBox="1"/>
          <p:nvPr userDrawn="1"/>
        </p:nvSpPr>
        <p:spPr>
          <a:xfrm>
            <a:off x="11512282" y="6140350"/>
            <a:ext cx="6305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400" b="1">
                <a:solidFill>
                  <a:srgbClr val="F8F8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fld>
            <a:endParaRPr sz="1400" b="1">
              <a:solidFill>
                <a:srgbClr val="F8F8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Google Shape;28;p27"/>
          <p:cNvSpPr txBox="1"/>
          <p:nvPr userDrawn="1"/>
        </p:nvSpPr>
        <p:spPr>
          <a:xfrm>
            <a:off x="0" y="191135"/>
            <a:ext cx="12192000" cy="637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 eaLnBrk="1" fontAlgn="auto" latinLnBrk="0" hangingPunct="1">
              <a:lnSpc>
                <a:spcPts val="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0" b="1">
                <a:solidFill>
                  <a:srgbClr val="F5F5F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NLP-Project</a:t>
            </a:r>
            <a:endParaRPr lang="en-US" altLang="zh-CN" sz="21000" b="1">
              <a:solidFill>
                <a:srgbClr val="F5F5F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28"/>
          <p:cNvGrpSpPr/>
          <p:nvPr/>
        </p:nvGrpSpPr>
        <p:grpSpPr>
          <a:xfrm>
            <a:off x="5" y="-6"/>
            <a:ext cx="12192000" cy="6858006"/>
            <a:chOff x="1" y="6567343"/>
            <a:chExt cx="12193588" cy="290657"/>
          </a:xfrm>
        </p:grpSpPr>
        <p:sp>
          <p:nvSpPr>
            <p:cNvPr id="33" name="Google Shape;33;p28"/>
            <p:cNvSpPr/>
            <p:nvPr/>
          </p:nvSpPr>
          <p:spPr>
            <a:xfrm>
              <a:off x="6935099" y="6567343"/>
              <a:ext cx="5258490" cy="290657"/>
            </a:xfrm>
            <a:prstGeom prst="rect">
              <a:avLst/>
            </a:prstGeom>
            <a:gradFill>
              <a:gsLst>
                <a:gs pos="0">
                  <a:srgbClr val="636399">
                    <a:alpha val="85882"/>
                  </a:srgbClr>
                </a:gs>
                <a:gs pos="19000">
                  <a:srgbClr val="7891BC">
                    <a:alpha val="86666"/>
                  </a:srgbClr>
                </a:gs>
                <a:gs pos="38000">
                  <a:srgbClr val="85B0D4">
                    <a:alpha val="86666"/>
                  </a:srgbClr>
                </a:gs>
                <a:gs pos="60000">
                  <a:srgbClr val="B7D0E5"/>
                </a:gs>
                <a:gs pos="100000">
                  <a:srgbClr val="E9F0F5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34" name="Google Shape;34;p28"/>
            <p:cNvSpPr/>
            <p:nvPr/>
          </p:nvSpPr>
          <p:spPr>
            <a:xfrm>
              <a:off x="1" y="6567343"/>
              <a:ext cx="6935099" cy="290657"/>
            </a:xfrm>
            <a:prstGeom prst="rect">
              <a:avLst/>
            </a:prstGeom>
            <a:gradFill>
              <a:gsLst>
                <a:gs pos="0">
                  <a:srgbClr val="E9F0F5"/>
                </a:gs>
                <a:gs pos="100000">
                  <a:srgbClr val="EE752E">
                    <a:alpha val="4000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">
  <p:cSld name="15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6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9548568" y="127755"/>
            <a:ext cx="2408981" cy="439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6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14" name="Google Shape;14;p26"/>
            <p:cNvSpPr/>
            <p:nvPr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rgbClr val="E9F0F5"/>
                </a:gs>
                <a:gs pos="100000">
                  <a:srgbClr val="EE752E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15" name="Google Shape;15;p26"/>
            <p:cNvSpPr/>
            <p:nvPr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>
              <a:gsLst>
                <a:gs pos="0">
                  <a:srgbClr val="636399"/>
                </a:gs>
                <a:gs pos="25000">
                  <a:srgbClr val="85B0D4"/>
                </a:gs>
                <a:gs pos="100000">
                  <a:srgbClr val="E9F0F5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</p:grpSp>
      <p:sp>
        <p:nvSpPr>
          <p:cNvPr id="17" name="Google Shape;17;p26"/>
          <p:cNvSpPr/>
          <p:nvPr userDrawn="1"/>
        </p:nvSpPr>
        <p:spPr>
          <a:xfrm>
            <a:off x="679360" y="0"/>
            <a:ext cx="432000" cy="612000"/>
          </a:xfrm>
          <a:custGeom>
            <a:avLst/>
            <a:gdLst/>
            <a:ahLst/>
            <a:cxnLst/>
            <a:rect l="l" t="t" r="r" b="b"/>
            <a:pathLst>
              <a:path w="675" h="800" extrusionOk="0">
                <a:moveTo>
                  <a:pt x="675" y="800"/>
                </a:moveTo>
                <a:lnTo>
                  <a:pt x="334" y="666"/>
                </a:lnTo>
                <a:lnTo>
                  <a:pt x="0" y="800"/>
                </a:lnTo>
                <a:lnTo>
                  <a:pt x="0" y="0"/>
                </a:lnTo>
                <a:lnTo>
                  <a:pt x="675" y="0"/>
                </a:lnTo>
                <a:lnTo>
                  <a:pt x="675" y="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8" name="Google Shape;18;p26"/>
          <p:cNvSpPr txBox="1"/>
          <p:nvPr userDrawn="1"/>
        </p:nvSpPr>
        <p:spPr>
          <a:xfrm>
            <a:off x="679360" y="89655"/>
            <a:ext cx="43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400" b="1">
                <a:solidFill>
                  <a:srgbClr val="F8F8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fld>
            <a:endParaRPr sz="1400" b="1">
              <a:solidFill>
                <a:srgbClr val="F8F8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Google Shape;28;p27"/>
          <p:cNvSpPr txBox="1"/>
          <p:nvPr userDrawn="1"/>
        </p:nvSpPr>
        <p:spPr>
          <a:xfrm>
            <a:off x="0" y="191135"/>
            <a:ext cx="12192000" cy="637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 eaLnBrk="1" fontAlgn="auto" latinLnBrk="0" hangingPunct="1">
              <a:lnSpc>
                <a:spcPts val="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0" b="1">
                <a:solidFill>
                  <a:srgbClr val="F5F5F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NLP-Project</a:t>
            </a:r>
            <a:endParaRPr lang="en-US" altLang="zh-CN" sz="21000" b="1">
              <a:solidFill>
                <a:srgbClr val="F5F5F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Slide">
  <p:cSld name="17_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7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9548568" y="127755"/>
            <a:ext cx="2408981" cy="439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7"/>
          <p:cNvGrpSpPr/>
          <p:nvPr userDrawn="1"/>
        </p:nvGrpSpPr>
        <p:grpSpPr>
          <a:xfrm>
            <a:off x="4" y="6567349"/>
            <a:ext cx="12192001" cy="290657"/>
            <a:chOff x="0" y="6567343"/>
            <a:chExt cx="12193589" cy="290657"/>
          </a:xfrm>
        </p:grpSpPr>
        <p:sp>
          <p:nvSpPr>
            <p:cNvPr id="23" name="Google Shape;23;p27"/>
            <p:cNvSpPr/>
            <p:nvPr/>
          </p:nvSpPr>
          <p:spPr>
            <a:xfrm>
              <a:off x="0" y="6567343"/>
              <a:ext cx="7496313" cy="288448"/>
            </a:xfrm>
            <a:prstGeom prst="rect">
              <a:avLst/>
            </a:prstGeom>
            <a:gradFill>
              <a:gsLst>
                <a:gs pos="0">
                  <a:srgbClr val="E9F0F5"/>
                </a:gs>
                <a:gs pos="100000">
                  <a:srgbClr val="EE752E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24" name="Google Shape;24;p27"/>
            <p:cNvSpPr/>
            <p:nvPr/>
          </p:nvSpPr>
          <p:spPr>
            <a:xfrm>
              <a:off x="7496313" y="6569552"/>
              <a:ext cx="4697276" cy="288448"/>
            </a:xfrm>
            <a:prstGeom prst="rect">
              <a:avLst/>
            </a:prstGeom>
            <a:gradFill>
              <a:gsLst>
                <a:gs pos="0">
                  <a:srgbClr val="636399"/>
                </a:gs>
                <a:gs pos="25000">
                  <a:srgbClr val="85B0D4"/>
                </a:gs>
                <a:gs pos="100000">
                  <a:srgbClr val="E9F0F5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</p:grpSp>
      <p:grpSp>
        <p:nvGrpSpPr>
          <p:cNvPr id="25" name="Google Shape;25;p27"/>
          <p:cNvGrpSpPr/>
          <p:nvPr userDrawn="1"/>
        </p:nvGrpSpPr>
        <p:grpSpPr>
          <a:xfrm>
            <a:off x="128905" y="106680"/>
            <a:ext cx="3020695" cy="568960"/>
            <a:chOff x="96456" y="106386"/>
            <a:chExt cx="2758631" cy="568939"/>
          </a:xfrm>
        </p:grpSpPr>
        <p:sp>
          <p:nvSpPr>
            <p:cNvPr id="26" name="Google Shape;26;p27"/>
            <p:cNvSpPr/>
            <p:nvPr/>
          </p:nvSpPr>
          <p:spPr>
            <a:xfrm>
              <a:off x="96456" y="108595"/>
              <a:ext cx="2758631" cy="566730"/>
            </a:xfrm>
            <a:prstGeom prst="homePlate">
              <a:avLst>
                <a:gd name="adj" fmla="val 50000"/>
              </a:avLst>
            </a:prstGeom>
            <a:solidFill>
              <a:srgbClr val="D3E1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rgbClr val="345D7E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27" name="Google Shape;27;p27"/>
            <p:cNvSpPr/>
            <p:nvPr/>
          </p:nvSpPr>
          <p:spPr>
            <a:xfrm>
              <a:off x="2542569" y="106386"/>
              <a:ext cx="312518" cy="566730"/>
            </a:xfrm>
            <a:prstGeom prst="chevron">
              <a:avLst>
                <a:gd name="adj" fmla="val 50000"/>
              </a:avLst>
            </a:prstGeom>
            <a:solidFill>
              <a:schemeClr val="accent6"/>
            </a:solidFill>
            <a:ln w="38100" cap="flat" cmpd="sng">
              <a:solidFill>
                <a:srgbClr val="E9F0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</p:grpSp>
      <p:sp>
        <p:nvSpPr>
          <p:cNvPr id="29" name="Google Shape;29;p27"/>
          <p:cNvSpPr/>
          <p:nvPr userDrawn="1"/>
        </p:nvSpPr>
        <p:spPr>
          <a:xfrm rot="5400000">
            <a:off x="11584322" y="5898239"/>
            <a:ext cx="432000" cy="792000"/>
          </a:xfrm>
          <a:custGeom>
            <a:avLst/>
            <a:gdLst/>
            <a:ahLst/>
            <a:cxnLst/>
            <a:rect l="l" t="t" r="r" b="b"/>
            <a:pathLst>
              <a:path w="675" h="800" extrusionOk="0">
                <a:moveTo>
                  <a:pt x="675" y="800"/>
                </a:moveTo>
                <a:lnTo>
                  <a:pt x="334" y="666"/>
                </a:lnTo>
                <a:lnTo>
                  <a:pt x="0" y="800"/>
                </a:lnTo>
                <a:lnTo>
                  <a:pt x="0" y="0"/>
                </a:lnTo>
                <a:lnTo>
                  <a:pt x="675" y="0"/>
                </a:lnTo>
                <a:lnTo>
                  <a:pt x="675" y="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375" tIns="45675" rIns="91375" bIns="456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0" name="Google Shape;30;p27"/>
          <p:cNvSpPr txBox="1"/>
          <p:nvPr userDrawn="1"/>
        </p:nvSpPr>
        <p:spPr>
          <a:xfrm>
            <a:off x="11512282" y="6140350"/>
            <a:ext cx="6305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400" b="1">
                <a:solidFill>
                  <a:srgbClr val="F8F8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fld>
            <a:endParaRPr sz="1400" b="1">
              <a:solidFill>
                <a:srgbClr val="F8F8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Google Shape;28;p27"/>
          <p:cNvSpPr txBox="1"/>
          <p:nvPr userDrawn="1"/>
        </p:nvSpPr>
        <p:spPr>
          <a:xfrm>
            <a:off x="0" y="191135"/>
            <a:ext cx="12192000" cy="637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 eaLnBrk="1" fontAlgn="auto" latinLnBrk="0" hangingPunct="1">
              <a:lnSpc>
                <a:spcPts val="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0" b="1">
                <a:solidFill>
                  <a:srgbClr val="F5F5F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NLP-Project</a:t>
            </a:r>
            <a:endParaRPr lang="en-US" altLang="zh-CN" sz="21000" b="1">
              <a:solidFill>
                <a:srgbClr val="F5F5F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28"/>
          <p:cNvGrpSpPr/>
          <p:nvPr/>
        </p:nvGrpSpPr>
        <p:grpSpPr>
          <a:xfrm>
            <a:off x="5" y="-6"/>
            <a:ext cx="12192000" cy="6858006"/>
            <a:chOff x="1" y="6567343"/>
            <a:chExt cx="12193588" cy="290657"/>
          </a:xfrm>
        </p:grpSpPr>
        <p:sp>
          <p:nvSpPr>
            <p:cNvPr id="33" name="Google Shape;33;p28"/>
            <p:cNvSpPr/>
            <p:nvPr/>
          </p:nvSpPr>
          <p:spPr>
            <a:xfrm>
              <a:off x="6935099" y="6567343"/>
              <a:ext cx="5258490" cy="290657"/>
            </a:xfrm>
            <a:prstGeom prst="rect">
              <a:avLst/>
            </a:prstGeom>
            <a:gradFill>
              <a:gsLst>
                <a:gs pos="0">
                  <a:srgbClr val="636399">
                    <a:alpha val="85882"/>
                  </a:srgbClr>
                </a:gs>
                <a:gs pos="19000">
                  <a:srgbClr val="7891BC">
                    <a:alpha val="86666"/>
                  </a:srgbClr>
                </a:gs>
                <a:gs pos="38000">
                  <a:srgbClr val="85B0D4">
                    <a:alpha val="86666"/>
                  </a:srgbClr>
                </a:gs>
                <a:gs pos="60000">
                  <a:srgbClr val="B7D0E5"/>
                </a:gs>
                <a:gs pos="100000">
                  <a:srgbClr val="E9F0F5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  <p:sp>
          <p:nvSpPr>
            <p:cNvPr id="34" name="Google Shape;34;p28"/>
            <p:cNvSpPr/>
            <p:nvPr/>
          </p:nvSpPr>
          <p:spPr>
            <a:xfrm>
              <a:off x="1" y="6567343"/>
              <a:ext cx="6935099" cy="290657"/>
            </a:xfrm>
            <a:prstGeom prst="rect">
              <a:avLst/>
            </a:prstGeom>
            <a:gradFill>
              <a:gsLst>
                <a:gs pos="0">
                  <a:srgbClr val="E9F0F5"/>
                </a:gs>
                <a:gs pos="100000">
                  <a:srgbClr val="EE752E">
                    <a:alpha val="4000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1"/>
          <p:cNvGrpSpPr/>
          <p:nvPr>
            <p:custDataLst>
              <p:tags r:id="rId1"/>
            </p:custDataLst>
          </p:nvPr>
        </p:nvGrpSpPr>
        <p:grpSpPr>
          <a:xfrm>
            <a:off x="4661422" y="4512028"/>
            <a:ext cx="3421618" cy="712488"/>
            <a:chOff x="4455024" y="4502503"/>
            <a:chExt cx="3421618" cy="712488"/>
          </a:xfrm>
        </p:grpSpPr>
        <p:grpSp>
          <p:nvGrpSpPr>
            <p:cNvPr id="41" name="Google Shape;41;p1"/>
            <p:cNvGrpSpPr/>
            <p:nvPr/>
          </p:nvGrpSpPr>
          <p:grpSpPr>
            <a:xfrm>
              <a:off x="4455024" y="4506380"/>
              <a:ext cx="340742" cy="299894"/>
              <a:chOff x="1277984" y="4660204"/>
              <a:chExt cx="340742" cy="299894"/>
            </a:xfrm>
          </p:grpSpPr>
          <p:sp>
            <p:nvSpPr>
              <p:cNvPr id="42" name="Google Shape;42;p1"/>
              <p:cNvSpPr/>
              <p:nvPr>
                <p:custDataLst>
                  <p:tags r:id="rId2"/>
                </p:custDataLst>
              </p:nvPr>
            </p:nvSpPr>
            <p:spPr>
              <a:xfrm>
                <a:off x="1277984" y="4660204"/>
                <a:ext cx="340742" cy="299894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37" extrusionOk="0">
                    <a:moveTo>
                      <a:pt x="472" y="18"/>
                    </a:moveTo>
                    <a:lnTo>
                      <a:pt x="539" y="134"/>
                    </a:lnTo>
                    <a:cubicBezTo>
                      <a:pt x="561" y="172"/>
                      <a:pt x="583" y="210"/>
                      <a:pt x="605" y="248"/>
                    </a:cubicBezTo>
                    <a:cubicBezTo>
                      <a:pt x="612" y="260"/>
                      <a:pt x="613" y="273"/>
                      <a:pt x="606" y="287"/>
                    </a:cubicBezTo>
                    <a:lnTo>
                      <a:pt x="539" y="403"/>
                    </a:lnTo>
                    <a:cubicBezTo>
                      <a:pt x="518" y="441"/>
                      <a:pt x="496" y="479"/>
                      <a:pt x="474" y="517"/>
                    </a:cubicBezTo>
                    <a:cubicBezTo>
                      <a:pt x="466" y="529"/>
                      <a:pt x="456" y="536"/>
                      <a:pt x="440" y="537"/>
                    </a:cubicBezTo>
                    <a:lnTo>
                      <a:pt x="307" y="537"/>
                    </a:lnTo>
                    <a:cubicBezTo>
                      <a:pt x="263" y="537"/>
                      <a:pt x="219" y="537"/>
                      <a:pt x="175" y="537"/>
                    </a:cubicBezTo>
                    <a:cubicBezTo>
                      <a:pt x="161" y="537"/>
                      <a:pt x="149" y="532"/>
                      <a:pt x="141" y="519"/>
                    </a:cubicBezTo>
                    <a:lnTo>
                      <a:pt x="74" y="403"/>
                    </a:lnTo>
                    <a:cubicBezTo>
                      <a:pt x="52" y="365"/>
                      <a:pt x="30" y="327"/>
                      <a:pt x="8" y="289"/>
                    </a:cubicBezTo>
                    <a:cubicBezTo>
                      <a:pt x="1" y="277"/>
                      <a:pt x="0" y="264"/>
                      <a:pt x="7" y="250"/>
                    </a:cubicBezTo>
                    <a:lnTo>
                      <a:pt x="74" y="134"/>
                    </a:lnTo>
                    <a:cubicBezTo>
                      <a:pt x="96" y="96"/>
                      <a:pt x="117" y="58"/>
                      <a:pt x="139" y="20"/>
                    </a:cubicBezTo>
                    <a:cubicBezTo>
                      <a:pt x="147" y="8"/>
                      <a:pt x="157" y="1"/>
                      <a:pt x="173" y="0"/>
                    </a:cubicBezTo>
                    <a:lnTo>
                      <a:pt x="307" y="0"/>
                    </a:lnTo>
                    <a:cubicBezTo>
                      <a:pt x="350" y="0"/>
                      <a:pt x="394" y="0"/>
                      <a:pt x="438" y="0"/>
                    </a:cubicBezTo>
                    <a:cubicBezTo>
                      <a:pt x="452" y="0"/>
                      <a:pt x="464" y="5"/>
                      <a:pt x="472" y="18"/>
                    </a:cubicBezTo>
                    <a:close/>
                  </a:path>
                </a:pathLst>
              </a:custGeom>
              <a:solidFill>
                <a:srgbClr val="548BB7"/>
              </a:solidFill>
              <a:ln>
                <a:noFill/>
              </a:ln>
            </p:spPr>
            <p:txBody>
              <a:bodyPr spcFirstLastPara="1" wrap="square" lIns="91375" tIns="45675" rIns="91375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99"/>
                  <a:buFont typeface="Century Gothic" panose="020B0502020202020204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3" name="Google Shape;43;p1"/>
              <p:cNvSpPr/>
              <p:nvPr>
                <p:custDataLst>
                  <p:tags r:id="rId3"/>
                </p:custDataLst>
              </p:nvPr>
            </p:nvSpPr>
            <p:spPr>
              <a:xfrm>
                <a:off x="1356160" y="4745121"/>
                <a:ext cx="179508" cy="130062"/>
              </a:xfrm>
              <a:custGeom>
                <a:avLst/>
                <a:gdLst/>
                <a:ahLst/>
                <a:cxnLst/>
                <a:rect l="l" t="t" r="r" b="b"/>
                <a:pathLst>
                  <a:path w="322" h="233" extrusionOk="0">
                    <a:moveTo>
                      <a:pt x="269" y="0"/>
                    </a:moveTo>
                    <a:lnTo>
                      <a:pt x="53" y="0"/>
                    </a:lnTo>
                    <a:cubicBezTo>
                      <a:pt x="24" y="0"/>
                      <a:pt x="0" y="23"/>
                      <a:pt x="0" y="52"/>
                    </a:cubicBezTo>
                    <a:lnTo>
                      <a:pt x="0" y="181"/>
                    </a:lnTo>
                    <a:cubicBezTo>
                      <a:pt x="0" y="210"/>
                      <a:pt x="24" y="233"/>
                      <a:pt x="53" y="233"/>
                    </a:cubicBezTo>
                    <a:lnTo>
                      <a:pt x="269" y="233"/>
                    </a:lnTo>
                    <a:cubicBezTo>
                      <a:pt x="298" y="233"/>
                      <a:pt x="322" y="210"/>
                      <a:pt x="322" y="181"/>
                    </a:cubicBezTo>
                    <a:lnTo>
                      <a:pt x="322" y="52"/>
                    </a:lnTo>
                    <a:cubicBezTo>
                      <a:pt x="322" y="23"/>
                      <a:pt x="298" y="0"/>
                      <a:pt x="269" y="0"/>
                    </a:cubicBezTo>
                    <a:close/>
                    <a:moveTo>
                      <a:pt x="101" y="101"/>
                    </a:moveTo>
                    <a:cubicBezTo>
                      <a:pt x="113" y="101"/>
                      <a:pt x="124" y="91"/>
                      <a:pt x="124" y="78"/>
                    </a:cubicBezTo>
                    <a:cubicBezTo>
                      <a:pt x="124" y="65"/>
                      <a:pt x="113" y="55"/>
                      <a:pt x="101" y="55"/>
                    </a:cubicBezTo>
                    <a:cubicBezTo>
                      <a:pt x="88" y="55"/>
                      <a:pt x="78" y="65"/>
                      <a:pt x="78" y="78"/>
                    </a:cubicBezTo>
                    <a:cubicBezTo>
                      <a:pt x="78" y="91"/>
                      <a:pt x="88" y="101"/>
                      <a:pt x="101" y="101"/>
                    </a:cubicBezTo>
                    <a:close/>
                    <a:moveTo>
                      <a:pt x="141" y="166"/>
                    </a:moveTo>
                    <a:lnTo>
                      <a:pt x="144" y="128"/>
                    </a:lnTo>
                    <a:cubicBezTo>
                      <a:pt x="145" y="117"/>
                      <a:pt x="134" y="108"/>
                      <a:pt x="121" y="108"/>
                    </a:cubicBezTo>
                    <a:lnTo>
                      <a:pt x="109" y="108"/>
                    </a:lnTo>
                    <a:cubicBezTo>
                      <a:pt x="109" y="109"/>
                      <a:pt x="109" y="114"/>
                      <a:pt x="106" y="117"/>
                    </a:cubicBezTo>
                    <a:cubicBezTo>
                      <a:pt x="106" y="117"/>
                      <a:pt x="111" y="142"/>
                      <a:pt x="109" y="151"/>
                    </a:cubicBezTo>
                    <a:cubicBezTo>
                      <a:pt x="108" y="154"/>
                      <a:pt x="104" y="163"/>
                      <a:pt x="100" y="163"/>
                    </a:cubicBezTo>
                    <a:cubicBezTo>
                      <a:pt x="96" y="163"/>
                      <a:pt x="93" y="154"/>
                      <a:pt x="92" y="151"/>
                    </a:cubicBezTo>
                    <a:cubicBezTo>
                      <a:pt x="91" y="142"/>
                      <a:pt x="97" y="117"/>
                      <a:pt x="97" y="117"/>
                    </a:cubicBezTo>
                    <a:cubicBezTo>
                      <a:pt x="96" y="116"/>
                      <a:pt x="94" y="115"/>
                      <a:pt x="94" y="108"/>
                    </a:cubicBezTo>
                    <a:lnTo>
                      <a:pt x="80" y="108"/>
                    </a:lnTo>
                    <a:cubicBezTo>
                      <a:pt x="68" y="108"/>
                      <a:pt x="56" y="117"/>
                      <a:pt x="57" y="129"/>
                    </a:cubicBezTo>
                    <a:lnTo>
                      <a:pt x="60" y="166"/>
                    </a:lnTo>
                    <a:cubicBezTo>
                      <a:pt x="70" y="176"/>
                      <a:pt x="86" y="176"/>
                      <a:pt x="101" y="176"/>
                    </a:cubicBezTo>
                    <a:cubicBezTo>
                      <a:pt x="115" y="176"/>
                      <a:pt x="132" y="175"/>
                      <a:pt x="141" y="166"/>
                    </a:cubicBezTo>
                    <a:close/>
                    <a:moveTo>
                      <a:pt x="165" y="191"/>
                    </a:moveTo>
                    <a:lnTo>
                      <a:pt x="165" y="191"/>
                    </a:lnTo>
                    <a:lnTo>
                      <a:pt x="36" y="191"/>
                    </a:lnTo>
                    <a:lnTo>
                      <a:pt x="36" y="42"/>
                    </a:lnTo>
                    <a:lnTo>
                      <a:pt x="165" y="42"/>
                    </a:lnTo>
                    <a:lnTo>
                      <a:pt x="165" y="191"/>
                    </a:lnTo>
                    <a:close/>
                    <a:moveTo>
                      <a:pt x="249" y="73"/>
                    </a:moveTo>
                    <a:lnTo>
                      <a:pt x="249" y="73"/>
                    </a:lnTo>
                    <a:lnTo>
                      <a:pt x="193" y="73"/>
                    </a:lnTo>
                    <a:cubicBezTo>
                      <a:pt x="186" y="73"/>
                      <a:pt x="181" y="67"/>
                      <a:pt x="181" y="60"/>
                    </a:cubicBezTo>
                    <a:cubicBezTo>
                      <a:pt x="181" y="54"/>
                      <a:pt x="186" y="48"/>
                      <a:pt x="193" y="48"/>
                    </a:cubicBezTo>
                    <a:lnTo>
                      <a:pt x="249" y="48"/>
                    </a:lnTo>
                    <a:cubicBezTo>
                      <a:pt x="256" y="48"/>
                      <a:pt x="261" y="54"/>
                      <a:pt x="261" y="60"/>
                    </a:cubicBezTo>
                    <a:cubicBezTo>
                      <a:pt x="261" y="67"/>
                      <a:pt x="256" y="73"/>
                      <a:pt x="249" y="73"/>
                    </a:cubicBezTo>
                    <a:close/>
                    <a:moveTo>
                      <a:pt x="302" y="123"/>
                    </a:moveTo>
                    <a:lnTo>
                      <a:pt x="302" y="123"/>
                    </a:lnTo>
                    <a:cubicBezTo>
                      <a:pt x="302" y="128"/>
                      <a:pt x="297" y="133"/>
                      <a:pt x="292" y="133"/>
                    </a:cubicBezTo>
                    <a:lnTo>
                      <a:pt x="191" y="133"/>
                    </a:lnTo>
                    <a:cubicBezTo>
                      <a:pt x="186" y="133"/>
                      <a:pt x="181" y="128"/>
                      <a:pt x="181" y="123"/>
                    </a:cubicBezTo>
                    <a:cubicBezTo>
                      <a:pt x="181" y="117"/>
                      <a:pt x="186" y="113"/>
                      <a:pt x="191" y="113"/>
                    </a:cubicBezTo>
                    <a:lnTo>
                      <a:pt x="292" y="113"/>
                    </a:lnTo>
                    <a:cubicBezTo>
                      <a:pt x="297" y="113"/>
                      <a:pt x="302" y="117"/>
                      <a:pt x="302" y="123"/>
                    </a:cubicBezTo>
                    <a:close/>
                    <a:moveTo>
                      <a:pt x="302" y="163"/>
                    </a:moveTo>
                    <a:lnTo>
                      <a:pt x="302" y="163"/>
                    </a:lnTo>
                    <a:cubicBezTo>
                      <a:pt x="302" y="169"/>
                      <a:pt x="297" y="173"/>
                      <a:pt x="292" y="173"/>
                    </a:cubicBezTo>
                    <a:lnTo>
                      <a:pt x="191" y="173"/>
                    </a:lnTo>
                    <a:cubicBezTo>
                      <a:pt x="186" y="173"/>
                      <a:pt x="181" y="169"/>
                      <a:pt x="181" y="163"/>
                    </a:cubicBezTo>
                    <a:cubicBezTo>
                      <a:pt x="181" y="157"/>
                      <a:pt x="186" y="153"/>
                      <a:pt x="191" y="153"/>
                    </a:cubicBezTo>
                    <a:lnTo>
                      <a:pt x="292" y="153"/>
                    </a:lnTo>
                    <a:cubicBezTo>
                      <a:pt x="297" y="153"/>
                      <a:pt x="302" y="157"/>
                      <a:pt x="302" y="163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375" tIns="45675" rIns="91375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99"/>
                  <a:buFont typeface="Century Gothic" panose="020B0502020202020204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4" name="Google Shape;44;p1"/>
            <p:cNvSpPr txBox="1"/>
            <p:nvPr>
              <p:custDataLst>
                <p:tags r:id="rId4"/>
              </p:custDataLst>
            </p:nvPr>
          </p:nvSpPr>
          <p:spPr>
            <a:xfrm>
              <a:off x="4802841" y="4502503"/>
              <a:ext cx="3073800" cy="305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微软雅黑" panose="020B0503020204020204" charset="-122"/>
                <a:buNone/>
              </a:pPr>
              <a:r>
                <a:rPr lang="zh-CN" sz="1400" b="0" i="0" u="none" strike="noStrike" cap="none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答辩人：罗文韬、赵勋、晏梓</a:t>
              </a:r>
              <a:r>
                <a:rPr lang="zh-CN" sz="1400" b="0" i="0" u="none" strike="noStrike" cap="none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豪</a:t>
              </a:r>
              <a:endParaRPr lang="zh-CN" sz="1400" b="0" i="0" u="none" strike="noStrike" cap="none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45" name="Google Shape;45;p1"/>
            <p:cNvGrpSpPr/>
            <p:nvPr/>
          </p:nvGrpSpPr>
          <p:grpSpPr>
            <a:xfrm>
              <a:off x="4455024" y="4913433"/>
              <a:ext cx="328311" cy="299894"/>
              <a:chOff x="1277984" y="5067257"/>
              <a:chExt cx="328311" cy="299894"/>
            </a:xfrm>
          </p:grpSpPr>
          <p:sp>
            <p:nvSpPr>
              <p:cNvPr id="46" name="Google Shape;46;p1"/>
              <p:cNvSpPr/>
              <p:nvPr>
                <p:custDataLst>
                  <p:tags r:id="rId5"/>
                </p:custDataLst>
              </p:nvPr>
            </p:nvSpPr>
            <p:spPr>
              <a:xfrm>
                <a:off x="1277984" y="5067257"/>
                <a:ext cx="328311" cy="299894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37" extrusionOk="0">
                    <a:moveTo>
                      <a:pt x="472" y="18"/>
                    </a:moveTo>
                    <a:lnTo>
                      <a:pt x="539" y="134"/>
                    </a:lnTo>
                    <a:cubicBezTo>
                      <a:pt x="561" y="172"/>
                      <a:pt x="583" y="210"/>
                      <a:pt x="605" y="248"/>
                    </a:cubicBezTo>
                    <a:cubicBezTo>
                      <a:pt x="612" y="260"/>
                      <a:pt x="613" y="273"/>
                      <a:pt x="606" y="287"/>
                    </a:cubicBezTo>
                    <a:lnTo>
                      <a:pt x="539" y="403"/>
                    </a:lnTo>
                    <a:cubicBezTo>
                      <a:pt x="517" y="441"/>
                      <a:pt x="495" y="479"/>
                      <a:pt x="473" y="517"/>
                    </a:cubicBezTo>
                    <a:cubicBezTo>
                      <a:pt x="466" y="529"/>
                      <a:pt x="455" y="536"/>
                      <a:pt x="440" y="537"/>
                    </a:cubicBezTo>
                    <a:lnTo>
                      <a:pt x="306" y="537"/>
                    </a:lnTo>
                    <a:cubicBezTo>
                      <a:pt x="262" y="537"/>
                      <a:pt x="219" y="537"/>
                      <a:pt x="175" y="537"/>
                    </a:cubicBezTo>
                    <a:cubicBezTo>
                      <a:pt x="160" y="537"/>
                      <a:pt x="149" y="532"/>
                      <a:pt x="140" y="519"/>
                    </a:cubicBezTo>
                    <a:lnTo>
                      <a:pt x="73" y="403"/>
                    </a:lnTo>
                    <a:cubicBezTo>
                      <a:pt x="51" y="365"/>
                      <a:pt x="29" y="327"/>
                      <a:pt x="7" y="289"/>
                    </a:cubicBezTo>
                    <a:cubicBezTo>
                      <a:pt x="1" y="277"/>
                      <a:pt x="0" y="264"/>
                      <a:pt x="6" y="250"/>
                    </a:cubicBezTo>
                    <a:lnTo>
                      <a:pt x="73" y="134"/>
                    </a:lnTo>
                    <a:cubicBezTo>
                      <a:pt x="95" y="96"/>
                      <a:pt x="117" y="58"/>
                      <a:pt x="139" y="20"/>
                    </a:cubicBezTo>
                    <a:cubicBezTo>
                      <a:pt x="146" y="8"/>
                      <a:pt x="157" y="1"/>
                      <a:pt x="172" y="0"/>
                    </a:cubicBezTo>
                    <a:lnTo>
                      <a:pt x="306" y="0"/>
                    </a:lnTo>
                    <a:cubicBezTo>
                      <a:pt x="350" y="0"/>
                      <a:pt x="394" y="0"/>
                      <a:pt x="437" y="0"/>
                    </a:cubicBezTo>
                    <a:cubicBezTo>
                      <a:pt x="452" y="0"/>
                      <a:pt x="464" y="5"/>
                      <a:pt x="472" y="18"/>
                    </a:cubicBezTo>
                    <a:close/>
                  </a:path>
                </a:pathLst>
              </a:custGeom>
              <a:solidFill>
                <a:srgbClr val="548BB7"/>
              </a:solidFill>
              <a:ln>
                <a:noFill/>
              </a:ln>
            </p:spPr>
            <p:txBody>
              <a:bodyPr spcFirstLastPara="1" wrap="square" lIns="91375" tIns="45675" rIns="91375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99"/>
                  <a:buFont typeface="Century Gothic" panose="020B0502020202020204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7" name="Google Shape;47;p1"/>
              <p:cNvSpPr/>
              <p:nvPr>
                <p:custDataLst>
                  <p:tags r:id="rId6"/>
                </p:custDataLst>
              </p:nvPr>
            </p:nvSpPr>
            <p:spPr>
              <a:xfrm>
                <a:off x="1354899" y="5120464"/>
                <a:ext cx="174479" cy="193480"/>
              </a:xfrm>
              <a:custGeom>
                <a:avLst/>
                <a:gdLst/>
                <a:ahLst/>
                <a:cxnLst/>
                <a:rect l="l" t="t" r="r" b="b"/>
                <a:pathLst>
                  <a:path w="327" h="347" extrusionOk="0">
                    <a:moveTo>
                      <a:pt x="153" y="191"/>
                    </a:moveTo>
                    <a:lnTo>
                      <a:pt x="153" y="329"/>
                    </a:lnTo>
                    <a:cubicBezTo>
                      <a:pt x="156" y="331"/>
                      <a:pt x="160" y="331"/>
                      <a:pt x="163" y="331"/>
                    </a:cubicBezTo>
                    <a:cubicBezTo>
                      <a:pt x="167" y="331"/>
                      <a:pt x="171" y="330"/>
                      <a:pt x="174" y="329"/>
                    </a:cubicBezTo>
                    <a:lnTo>
                      <a:pt x="174" y="191"/>
                    </a:lnTo>
                    <a:cubicBezTo>
                      <a:pt x="171" y="192"/>
                      <a:pt x="167" y="192"/>
                      <a:pt x="164" y="192"/>
                    </a:cubicBezTo>
                    <a:cubicBezTo>
                      <a:pt x="160" y="192"/>
                      <a:pt x="157" y="192"/>
                      <a:pt x="153" y="191"/>
                    </a:cubicBezTo>
                    <a:close/>
                    <a:moveTo>
                      <a:pt x="200" y="198"/>
                    </a:moveTo>
                    <a:lnTo>
                      <a:pt x="261" y="174"/>
                    </a:lnTo>
                    <a:lnTo>
                      <a:pt x="261" y="199"/>
                    </a:lnTo>
                    <a:lnTo>
                      <a:pt x="200" y="223"/>
                    </a:lnTo>
                    <a:lnTo>
                      <a:pt x="200" y="198"/>
                    </a:lnTo>
                    <a:close/>
                    <a:moveTo>
                      <a:pt x="82" y="145"/>
                    </a:moveTo>
                    <a:lnTo>
                      <a:pt x="57" y="131"/>
                    </a:lnTo>
                    <a:cubicBezTo>
                      <a:pt x="54" y="130"/>
                      <a:pt x="53" y="126"/>
                      <a:pt x="55" y="124"/>
                    </a:cubicBezTo>
                    <a:cubicBezTo>
                      <a:pt x="56" y="121"/>
                      <a:pt x="60" y="120"/>
                      <a:pt x="62" y="122"/>
                    </a:cubicBezTo>
                    <a:lnTo>
                      <a:pt x="86" y="135"/>
                    </a:lnTo>
                    <a:lnTo>
                      <a:pt x="73" y="126"/>
                    </a:lnTo>
                    <a:cubicBezTo>
                      <a:pt x="70" y="124"/>
                      <a:pt x="70" y="120"/>
                      <a:pt x="72" y="118"/>
                    </a:cubicBezTo>
                    <a:cubicBezTo>
                      <a:pt x="73" y="115"/>
                      <a:pt x="77" y="115"/>
                      <a:pt x="80" y="117"/>
                    </a:cubicBezTo>
                    <a:lnTo>
                      <a:pt x="96" y="128"/>
                    </a:lnTo>
                    <a:lnTo>
                      <a:pt x="88" y="121"/>
                    </a:lnTo>
                    <a:cubicBezTo>
                      <a:pt x="86" y="119"/>
                      <a:pt x="86" y="115"/>
                      <a:pt x="88" y="113"/>
                    </a:cubicBezTo>
                    <a:cubicBezTo>
                      <a:pt x="90" y="111"/>
                      <a:pt x="94" y="110"/>
                      <a:pt x="96" y="113"/>
                    </a:cubicBezTo>
                    <a:lnTo>
                      <a:pt x="162" y="175"/>
                    </a:lnTo>
                    <a:cubicBezTo>
                      <a:pt x="163" y="175"/>
                      <a:pt x="163" y="175"/>
                      <a:pt x="163" y="175"/>
                    </a:cubicBezTo>
                    <a:cubicBezTo>
                      <a:pt x="163" y="175"/>
                      <a:pt x="163" y="175"/>
                      <a:pt x="163" y="175"/>
                    </a:cubicBezTo>
                    <a:lnTo>
                      <a:pt x="230" y="113"/>
                    </a:lnTo>
                    <a:cubicBezTo>
                      <a:pt x="232" y="110"/>
                      <a:pt x="236" y="111"/>
                      <a:pt x="238" y="113"/>
                    </a:cubicBezTo>
                    <a:cubicBezTo>
                      <a:pt x="240" y="115"/>
                      <a:pt x="240" y="119"/>
                      <a:pt x="238" y="121"/>
                    </a:cubicBezTo>
                    <a:lnTo>
                      <a:pt x="229" y="128"/>
                    </a:lnTo>
                    <a:lnTo>
                      <a:pt x="246" y="117"/>
                    </a:lnTo>
                    <a:cubicBezTo>
                      <a:pt x="249" y="115"/>
                      <a:pt x="252" y="115"/>
                      <a:pt x="254" y="118"/>
                    </a:cubicBezTo>
                    <a:cubicBezTo>
                      <a:pt x="256" y="120"/>
                      <a:pt x="255" y="124"/>
                      <a:pt x="253" y="126"/>
                    </a:cubicBezTo>
                    <a:lnTo>
                      <a:pt x="240" y="135"/>
                    </a:lnTo>
                    <a:lnTo>
                      <a:pt x="264" y="122"/>
                    </a:lnTo>
                    <a:cubicBezTo>
                      <a:pt x="266" y="120"/>
                      <a:pt x="270" y="121"/>
                      <a:pt x="271" y="124"/>
                    </a:cubicBezTo>
                    <a:cubicBezTo>
                      <a:pt x="273" y="127"/>
                      <a:pt x="272" y="130"/>
                      <a:pt x="269" y="131"/>
                    </a:cubicBezTo>
                    <a:lnTo>
                      <a:pt x="240" y="148"/>
                    </a:lnTo>
                    <a:lnTo>
                      <a:pt x="284" y="129"/>
                    </a:lnTo>
                    <a:lnTo>
                      <a:pt x="284" y="197"/>
                    </a:lnTo>
                    <a:cubicBezTo>
                      <a:pt x="283" y="197"/>
                      <a:pt x="283" y="197"/>
                      <a:pt x="282" y="197"/>
                    </a:cubicBezTo>
                    <a:lnTo>
                      <a:pt x="273" y="196"/>
                    </a:lnTo>
                    <a:lnTo>
                      <a:pt x="269" y="203"/>
                    </a:lnTo>
                    <a:lnTo>
                      <a:pt x="269" y="152"/>
                    </a:lnTo>
                    <a:lnTo>
                      <a:pt x="190" y="186"/>
                    </a:lnTo>
                    <a:lnTo>
                      <a:pt x="190" y="322"/>
                    </a:lnTo>
                    <a:lnTo>
                      <a:pt x="269" y="289"/>
                    </a:lnTo>
                    <a:lnTo>
                      <a:pt x="269" y="279"/>
                    </a:lnTo>
                    <a:cubicBezTo>
                      <a:pt x="272" y="280"/>
                      <a:pt x="275" y="282"/>
                      <a:pt x="277" y="283"/>
                    </a:cubicBezTo>
                    <a:cubicBezTo>
                      <a:pt x="280" y="284"/>
                      <a:pt x="282" y="284"/>
                      <a:pt x="284" y="285"/>
                    </a:cubicBezTo>
                    <a:lnTo>
                      <a:pt x="284" y="299"/>
                    </a:lnTo>
                    <a:lnTo>
                      <a:pt x="185" y="341"/>
                    </a:lnTo>
                    <a:cubicBezTo>
                      <a:pt x="183" y="342"/>
                      <a:pt x="181" y="343"/>
                      <a:pt x="178" y="343"/>
                    </a:cubicBezTo>
                    <a:lnTo>
                      <a:pt x="174" y="345"/>
                    </a:lnTo>
                    <a:lnTo>
                      <a:pt x="174" y="345"/>
                    </a:lnTo>
                    <a:cubicBezTo>
                      <a:pt x="171" y="346"/>
                      <a:pt x="167" y="346"/>
                      <a:pt x="164" y="346"/>
                    </a:cubicBezTo>
                    <a:cubicBezTo>
                      <a:pt x="156" y="347"/>
                      <a:pt x="149" y="345"/>
                      <a:pt x="142" y="340"/>
                    </a:cubicBezTo>
                    <a:lnTo>
                      <a:pt x="43" y="299"/>
                    </a:lnTo>
                    <a:lnTo>
                      <a:pt x="43" y="285"/>
                    </a:lnTo>
                    <a:cubicBezTo>
                      <a:pt x="45" y="284"/>
                      <a:pt x="48" y="284"/>
                      <a:pt x="50" y="283"/>
                    </a:cubicBezTo>
                    <a:cubicBezTo>
                      <a:pt x="53" y="282"/>
                      <a:pt x="55" y="280"/>
                      <a:pt x="58" y="279"/>
                    </a:cubicBezTo>
                    <a:lnTo>
                      <a:pt x="58" y="289"/>
                    </a:lnTo>
                    <a:lnTo>
                      <a:pt x="138" y="322"/>
                    </a:lnTo>
                    <a:lnTo>
                      <a:pt x="138" y="186"/>
                    </a:lnTo>
                    <a:lnTo>
                      <a:pt x="58" y="152"/>
                    </a:lnTo>
                    <a:lnTo>
                      <a:pt x="58" y="203"/>
                    </a:lnTo>
                    <a:lnTo>
                      <a:pt x="55" y="196"/>
                    </a:lnTo>
                    <a:lnTo>
                      <a:pt x="46" y="197"/>
                    </a:lnTo>
                    <a:cubicBezTo>
                      <a:pt x="45" y="197"/>
                      <a:pt x="44" y="197"/>
                      <a:pt x="43" y="197"/>
                    </a:cubicBezTo>
                    <a:lnTo>
                      <a:pt x="43" y="129"/>
                    </a:lnTo>
                    <a:lnTo>
                      <a:pt x="82" y="145"/>
                    </a:lnTo>
                    <a:close/>
                    <a:moveTo>
                      <a:pt x="49" y="210"/>
                    </a:moveTo>
                    <a:cubicBezTo>
                      <a:pt x="51" y="213"/>
                      <a:pt x="53" y="216"/>
                      <a:pt x="54" y="220"/>
                    </a:cubicBezTo>
                    <a:lnTo>
                      <a:pt x="36" y="231"/>
                    </a:lnTo>
                    <a:lnTo>
                      <a:pt x="56" y="223"/>
                    </a:lnTo>
                    <a:cubicBezTo>
                      <a:pt x="57" y="227"/>
                      <a:pt x="58" y="230"/>
                      <a:pt x="60" y="234"/>
                    </a:cubicBezTo>
                    <a:lnTo>
                      <a:pt x="42" y="244"/>
                    </a:lnTo>
                    <a:lnTo>
                      <a:pt x="61" y="237"/>
                    </a:lnTo>
                    <a:cubicBezTo>
                      <a:pt x="62" y="241"/>
                      <a:pt x="63" y="245"/>
                      <a:pt x="65" y="249"/>
                    </a:cubicBezTo>
                    <a:lnTo>
                      <a:pt x="49" y="257"/>
                    </a:lnTo>
                    <a:lnTo>
                      <a:pt x="65" y="251"/>
                    </a:lnTo>
                    <a:cubicBezTo>
                      <a:pt x="66" y="254"/>
                      <a:pt x="67" y="257"/>
                      <a:pt x="67" y="260"/>
                    </a:cubicBezTo>
                    <a:cubicBezTo>
                      <a:pt x="64" y="262"/>
                      <a:pt x="38" y="279"/>
                      <a:pt x="26" y="274"/>
                    </a:cubicBezTo>
                    <a:cubicBezTo>
                      <a:pt x="13" y="269"/>
                      <a:pt x="1" y="252"/>
                      <a:pt x="0" y="236"/>
                    </a:cubicBezTo>
                    <a:cubicBezTo>
                      <a:pt x="0" y="221"/>
                      <a:pt x="40" y="211"/>
                      <a:pt x="49" y="210"/>
                    </a:cubicBezTo>
                    <a:close/>
                    <a:moveTo>
                      <a:pt x="16" y="217"/>
                    </a:moveTo>
                    <a:lnTo>
                      <a:pt x="26" y="213"/>
                    </a:lnTo>
                    <a:lnTo>
                      <a:pt x="31" y="208"/>
                    </a:lnTo>
                    <a:lnTo>
                      <a:pt x="31" y="192"/>
                    </a:lnTo>
                    <a:cubicBezTo>
                      <a:pt x="22" y="196"/>
                      <a:pt x="18" y="206"/>
                      <a:pt x="16" y="217"/>
                    </a:cubicBezTo>
                    <a:close/>
                    <a:moveTo>
                      <a:pt x="277" y="210"/>
                    </a:moveTo>
                    <a:cubicBezTo>
                      <a:pt x="276" y="213"/>
                      <a:pt x="274" y="216"/>
                      <a:pt x="272" y="220"/>
                    </a:cubicBezTo>
                    <a:lnTo>
                      <a:pt x="291" y="231"/>
                    </a:lnTo>
                    <a:lnTo>
                      <a:pt x="271" y="223"/>
                    </a:lnTo>
                    <a:cubicBezTo>
                      <a:pt x="269" y="227"/>
                      <a:pt x="268" y="230"/>
                      <a:pt x="267" y="234"/>
                    </a:cubicBezTo>
                    <a:lnTo>
                      <a:pt x="284" y="244"/>
                    </a:lnTo>
                    <a:lnTo>
                      <a:pt x="266" y="237"/>
                    </a:lnTo>
                    <a:cubicBezTo>
                      <a:pt x="264" y="241"/>
                      <a:pt x="263" y="245"/>
                      <a:pt x="262" y="249"/>
                    </a:cubicBezTo>
                    <a:lnTo>
                      <a:pt x="278" y="257"/>
                    </a:lnTo>
                    <a:lnTo>
                      <a:pt x="261" y="251"/>
                    </a:lnTo>
                    <a:cubicBezTo>
                      <a:pt x="261" y="254"/>
                      <a:pt x="260" y="257"/>
                      <a:pt x="259" y="260"/>
                    </a:cubicBezTo>
                    <a:cubicBezTo>
                      <a:pt x="263" y="262"/>
                      <a:pt x="289" y="279"/>
                      <a:pt x="301" y="274"/>
                    </a:cubicBezTo>
                    <a:cubicBezTo>
                      <a:pt x="313" y="269"/>
                      <a:pt x="326" y="252"/>
                      <a:pt x="326" y="236"/>
                    </a:cubicBezTo>
                    <a:cubicBezTo>
                      <a:pt x="327" y="221"/>
                      <a:pt x="286" y="211"/>
                      <a:pt x="277" y="210"/>
                    </a:cubicBezTo>
                    <a:close/>
                    <a:moveTo>
                      <a:pt x="311" y="217"/>
                    </a:moveTo>
                    <a:lnTo>
                      <a:pt x="300" y="213"/>
                    </a:lnTo>
                    <a:lnTo>
                      <a:pt x="296" y="208"/>
                    </a:lnTo>
                    <a:lnTo>
                      <a:pt x="295" y="192"/>
                    </a:lnTo>
                    <a:cubicBezTo>
                      <a:pt x="305" y="196"/>
                      <a:pt x="309" y="206"/>
                      <a:pt x="311" y="217"/>
                    </a:cubicBezTo>
                    <a:close/>
                    <a:moveTo>
                      <a:pt x="162" y="0"/>
                    </a:moveTo>
                    <a:cubicBezTo>
                      <a:pt x="181" y="0"/>
                      <a:pt x="198" y="10"/>
                      <a:pt x="210" y="24"/>
                    </a:cubicBezTo>
                    <a:cubicBezTo>
                      <a:pt x="218" y="34"/>
                      <a:pt x="224" y="45"/>
                      <a:pt x="228" y="59"/>
                    </a:cubicBezTo>
                    <a:cubicBezTo>
                      <a:pt x="232" y="58"/>
                      <a:pt x="239" y="57"/>
                      <a:pt x="241" y="62"/>
                    </a:cubicBezTo>
                    <a:cubicBezTo>
                      <a:pt x="244" y="70"/>
                      <a:pt x="242" y="87"/>
                      <a:pt x="237" y="89"/>
                    </a:cubicBezTo>
                    <a:cubicBezTo>
                      <a:pt x="235" y="90"/>
                      <a:pt x="232" y="90"/>
                      <a:pt x="229" y="90"/>
                    </a:cubicBezTo>
                    <a:cubicBezTo>
                      <a:pt x="229" y="94"/>
                      <a:pt x="228" y="99"/>
                      <a:pt x="227" y="103"/>
                    </a:cubicBezTo>
                    <a:cubicBezTo>
                      <a:pt x="222" y="104"/>
                      <a:pt x="217" y="105"/>
                      <a:pt x="213" y="106"/>
                    </a:cubicBezTo>
                    <a:cubicBezTo>
                      <a:pt x="216" y="98"/>
                      <a:pt x="217" y="89"/>
                      <a:pt x="217" y="80"/>
                    </a:cubicBezTo>
                    <a:cubicBezTo>
                      <a:pt x="217" y="68"/>
                      <a:pt x="215" y="57"/>
                      <a:pt x="210" y="47"/>
                    </a:cubicBezTo>
                    <a:cubicBezTo>
                      <a:pt x="173" y="76"/>
                      <a:pt x="125" y="55"/>
                      <a:pt x="113" y="50"/>
                    </a:cubicBezTo>
                    <a:cubicBezTo>
                      <a:pt x="109" y="59"/>
                      <a:pt x="107" y="69"/>
                      <a:pt x="107" y="80"/>
                    </a:cubicBezTo>
                    <a:cubicBezTo>
                      <a:pt x="107" y="89"/>
                      <a:pt x="109" y="98"/>
                      <a:pt x="112" y="106"/>
                    </a:cubicBezTo>
                    <a:cubicBezTo>
                      <a:pt x="107" y="105"/>
                      <a:pt x="103" y="104"/>
                      <a:pt x="98" y="103"/>
                    </a:cubicBezTo>
                    <a:cubicBezTo>
                      <a:pt x="97" y="99"/>
                      <a:pt x="96" y="94"/>
                      <a:pt x="95" y="90"/>
                    </a:cubicBezTo>
                    <a:cubicBezTo>
                      <a:pt x="93" y="90"/>
                      <a:pt x="90" y="90"/>
                      <a:pt x="88" y="89"/>
                    </a:cubicBezTo>
                    <a:cubicBezTo>
                      <a:pt x="82" y="87"/>
                      <a:pt x="81" y="70"/>
                      <a:pt x="84" y="62"/>
                    </a:cubicBezTo>
                    <a:cubicBezTo>
                      <a:pt x="86" y="57"/>
                      <a:pt x="92" y="58"/>
                      <a:pt x="97" y="59"/>
                    </a:cubicBezTo>
                    <a:cubicBezTo>
                      <a:pt x="100" y="45"/>
                      <a:pt x="106" y="34"/>
                      <a:pt x="114" y="24"/>
                    </a:cubicBezTo>
                    <a:cubicBezTo>
                      <a:pt x="126" y="10"/>
                      <a:pt x="143" y="0"/>
                      <a:pt x="162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375" tIns="45675" rIns="91375" bIns="456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99"/>
                  <a:buFont typeface="Century Gothic" panose="020B0502020202020204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8" name="Google Shape;48;p1"/>
            <p:cNvSpPr txBox="1"/>
            <p:nvPr>
              <p:custDataLst>
                <p:tags r:id="rId7"/>
              </p:custDataLst>
            </p:nvPr>
          </p:nvSpPr>
          <p:spPr>
            <a:xfrm>
              <a:off x="4802842" y="4909556"/>
              <a:ext cx="3073800" cy="3054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微软雅黑" panose="020B0503020204020204" charset="-122"/>
                <a:buNone/>
              </a:pPr>
              <a:r>
                <a:rPr lang="zh-CN" sz="1400" b="0" i="0" u="none" strike="noStrike" cap="none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指导老师：徐</a:t>
              </a:r>
              <a:r>
                <a:rPr lang="zh-CN" sz="1400" b="0" i="0" u="none" strike="noStrike" cap="none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炀</a:t>
              </a:r>
              <a:endParaRPr lang="zh-CN" sz="1400" b="0" i="0" u="none" strike="noStrike" cap="none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9" name="Google Shape;49;p1"/>
          <p:cNvSpPr/>
          <p:nvPr/>
        </p:nvSpPr>
        <p:spPr>
          <a:xfrm>
            <a:off x="0" y="1222825"/>
            <a:ext cx="121920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1">
                <a:solidFill>
                  <a:srgbClr val="ED6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NLP-Project</a:t>
            </a:r>
            <a:r>
              <a:rPr lang="zh-CN" sz="6000" b="1">
                <a:solidFill>
                  <a:srgbClr val="ED6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答辩</a:t>
            </a:r>
            <a:endParaRPr lang="zh-CN" altLang="en-US" sz="6000" b="1">
              <a:solidFill>
                <a:srgbClr val="ED6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900" b="1">
                <a:solidFill>
                  <a:srgbClr val="ED6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语用学提示词与三维推理框架讽刺检测研究</a:t>
            </a:r>
            <a:endParaRPr lang="zh-CN" sz="6600" b="1">
              <a:solidFill>
                <a:srgbClr val="ED6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4853168" y="5477398"/>
            <a:ext cx="24858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微软雅黑" panose="020B0503020204020204" charset="-122"/>
              <a:buNone/>
            </a:pPr>
            <a:r>
              <a:rPr 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</a:t>
            </a:r>
            <a:r>
              <a:rPr 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.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</a:t>
            </a:r>
            <a:r>
              <a:rPr 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.</a:t>
            </a:r>
            <a:r>
              <a:rPr lang="en-US" altLang="zh-CN" sz="1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altLang="zh-CN" sz="14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/>
        </p:nvSpPr>
        <p:spPr>
          <a:xfrm>
            <a:off x="107950" y="139065"/>
            <a:ext cx="2844800" cy="50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Gothic" panose="020B0502020202020204"/>
              <a:buNone/>
            </a:pPr>
            <a:r>
              <a:rPr lang="zh-CN" sz="2700" b="1" i="0" u="none" strike="noStrike" cap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研究背景与</a:t>
            </a:r>
            <a:r>
              <a:rPr lang="zh-CN" sz="2700" b="1" i="0" u="none" strike="noStrike" cap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问题</a:t>
            </a:r>
            <a:endParaRPr lang="zh-CN" sz="2700" b="1" i="0" u="none" strike="noStrike" cap="none">
              <a:solidFill>
                <a:srgbClr val="000000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7" name="Google Shape;79;p3"/>
          <p:cNvSpPr txBox="1"/>
          <p:nvPr/>
        </p:nvSpPr>
        <p:spPr>
          <a:xfrm>
            <a:off x="635" y="1207770"/>
            <a:ext cx="6311265" cy="319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</a:rPr>
              <a:t>讽刺识别是情感分析中的一项极具挑战性的任务</a:t>
            </a:r>
            <a:endParaRPr lang="zh-CN" altLang="en-US" sz="19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</a:rPr>
              <a:t>讽刺语义往往与字面意思相反，存在强烈的情感反转</a:t>
            </a:r>
            <a:endParaRPr lang="zh-CN" altLang="en-US" sz="19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en-US" altLang="zh-CN" sz="1900">
                <a:solidFill>
                  <a:schemeClr val="dk1"/>
                </a:solidFill>
              </a:rPr>
              <a:t>LLM</a:t>
            </a:r>
            <a:r>
              <a:rPr lang="zh-CN" altLang="en-US" sz="1900">
                <a:solidFill>
                  <a:schemeClr val="dk1"/>
                </a:solidFill>
              </a:rPr>
              <a:t>擅长直觉判断，涉及反讽、逻辑矛盾时易产生幻觉</a:t>
            </a:r>
            <a:endParaRPr lang="zh-CN" altLang="en-US" sz="1900">
              <a:solidFill>
                <a:schemeClr val="dk1"/>
              </a:solidFill>
            </a:endParaRPr>
          </a:p>
          <a:p>
            <a:pPr marL="342900" marR="0" lvl="0" indent="-3429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"/>
            </a:pPr>
            <a:endParaRPr lang="en-US" altLang="zh-CN" sz="19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</a:rPr>
              <a:t>两类改进方法——</a:t>
            </a:r>
            <a:endParaRPr lang="zh-CN" altLang="en-US" sz="19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</a:rPr>
              <a:t>提示词层解读全文线索与差异反思的语用学启发（</a:t>
            </a:r>
            <a:r>
              <a:rPr lang="en-US" altLang="zh-CN" sz="1900">
                <a:solidFill>
                  <a:schemeClr val="dk1"/>
                </a:solidFill>
              </a:rPr>
              <a:t>PMP）</a:t>
            </a:r>
            <a:endParaRPr lang="en-US" altLang="zh-CN" sz="19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</a:rPr>
              <a:t>模型推理层的维度拆解与</a:t>
            </a:r>
            <a:r>
              <a:rPr lang="en-US" altLang="zh-CN" sz="1900">
                <a:solidFill>
                  <a:schemeClr val="dk1"/>
                </a:solidFill>
              </a:rPr>
              <a:t>GRPO</a:t>
            </a:r>
            <a:r>
              <a:rPr lang="zh-CN" altLang="en-US" sz="1900">
                <a:solidFill>
                  <a:schemeClr val="dk1"/>
                </a:solidFill>
              </a:rPr>
              <a:t>强化学习（</a:t>
            </a:r>
            <a:r>
              <a:rPr lang="en-US" altLang="zh-CN" sz="1900">
                <a:solidFill>
                  <a:schemeClr val="dk1"/>
                </a:solidFill>
              </a:rPr>
              <a:t>Sarcasm）</a:t>
            </a:r>
            <a:endParaRPr lang="en-US" altLang="zh-CN" sz="190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"/>
            </a:pPr>
            <a:endParaRPr lang="en-US" altLang="zh-CN" sz="1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endParaRPr lang="zh-CN" altLang="en-US" sz="1900">
              <a:solidFill>
                <a:schemeClr val="dk1"/>
              </a:solidFill>
            </a:endParaRPr>
          </a:p>
        </p:txBody>
      </p:sp>
      <p:sp>
        <p:nvSpPr>
          <p:cNvPr id="10" name="Google Shape;79;p3"/>
          <p:cNvSpPr txBox="1"/>
          <p:nvPr/>
        </p:nvSpPr>
        <p:spPr>
          <a:xfrm>
            <a:off x="380365" y="480695"/>
            <a:ext cx="5732780" cy="8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sz="3200" b="1">
                <a:solidFill>
                  <a:schemeClr val="dk1"/>
                </a:solidFill>
                <a:latin typeface="Arial Bold" panose="020B0604020202090204" charset="0"/>
              </a:rPr>
              <a:t>研究</a:t>
            </a:r>
            <a:r>
              <a:rPr lang="zh-CN" sz="3200" b="1">
                <a:solidFill>
                  <a:schemeClr val="dk1"/>
                </a:solidFill>
                <a:latin typeface="Arial Bold" panose="020B0604020202090204" charset="0"/>
              </a:rPr>
              <a:t>背景</a:t>
            </a:r>
            <a:endParaRPr lang="zh-CN" sz="3200" b="1">
              <a:solidFill>
                <a:schemeClr val="dk1"/>
              </a:solidFill>
              <a:latin typeface="Arial Bold" panose="020B060402020209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295" y="1207770"/>
            <a:ext cx="2980690" cy="44996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510" y="1207770"/>
            <a:ext cx="3031490" cy="4519295"/>
          </a:xfrm>
          <a:prstGeom prst="rect">
            <a:avLst/>
          </a:prstGeom>
        </p:spPr>
      </p:pic>
      <p:sp>
        <p:nvSpPr>
          <p:cNvPr id="6" name="Google Shape;79;p3"/>
          <p:cNvSpPr txBox="1"/>
          <p:nvPr/>
        </p:nvSpPr>
        <p:spPr>
          <a:xfrm>
            <a:off x="1103630" y="4488815"/>
            <a:ext cx="4286250" cy="58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sz="3200" b="1">
                <a:solidFill>
                  <a:schemeClr val="dk1"/>
                </a:solidFill>
                <a:latin typeface="Arial Bold" panose="020B0604020202090204" charset="0"/>
              </a:rPr>
              <a:t>核心</a:t>
            </a:r>
            <a:r>
              <a:rPr lang="zh-CN" sz="3200" b="1">
                <a:solidFill>
                  <a:schemeClr val="dk1"/>
                </a:solidFill>
                <a:latin typeface="Arial Bold" panose="020B0604020202090204" charset="0"/>
              </a:rPr>
              <a:t>问题</a:t>
            </a:r>
            <a:endParaRPr lang="zh-CN" sz="3200" b="1">
              <a:solidFill>
                <a:schemeClr val="dk1"/>
              </a:solidFill>
              <a:latin typeface="Arial Bold" panose="020B0604020202090204" charset="0"/>
            </a:endParaRPr>
          </a:p>
        </p:txBody>
      </p:sp>
      <p:sp>
        <p:nvSpPr>
          <p:cNvPr id="8" name="Google Shape;79;p3"/>
          <p:cNvSpPr txBox="1"/>
          <p:nvPr/>
        </p:nvSpPr>
        <p:spPr>
          <a:xfrm>
            <a:off x="540385" y="4963795"/>
            <a:ext cx="5412105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  <a:sym typeface="+mn-ea"/>
              </a:rPr>
              <a:t>哪种方式对小模型的提升更显著？</a:t>
            </a:r>
            <a:endParaRPr lang="zh-CN" altLang="en-US" sz="19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  <a:sym typeface="+mn-ea"/>
              </a:rPr>
              <a:t>二者结合后“语用学引导的多维度推理”</a:t>
            </a:r>
            <a:r>
              <a:rPr lang="zh-CN" altLang="en-US" sz="1900">
                <a:solidFill>
                  <a:schemeClr val="dk1"/>
                </a:solidFill>
                <a:sym typeface="+mn-ea"/>
              </a:rPr>
              <a:t>框架是否能进一步提升讽刺语义识别性能？</a:t>
            </a:r>
            <a:endParaRPr lang="zh-CN" altLang="en-US" sz="1900">
              <a:solidFill>
                <a:schemeClr val="dk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/>
        </p:nvSpPr>
        <p:spPr>
          <a:xfrm>
            <a:off x="107950" y="139065"/>
            <a:ext cx="2844800" cy="50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Gothic" panose="020B0502020202020204"/>
              <a:buNone/>
            </a:pPr>
            <a:r>
              <a:rPr lang="zh-CN" sz="2700" b="1" i="0" u="none" strike="noStrike" cap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研究</a:t>
            </a:r>
            <a:r>
              <a:rPr lang="zh-CN" sz="2700" b="1" i="0" u="none" strike="noStrike" cap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方法</a:t>
            </a:r>
            <a:endParaRPr lang="zh-CN" sz="2700" b="1" i="0" u="none" strike="noStrike" cap="none">
              <a:solidFill>
                <a:srgbClr val="000000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5" name="Google Shape;79;p3"/>
          <p:cNvSpPr txBox="1"/>
          <p:nvPr/>
        </p:nvSpPr>
        <p:spPr>
          <a:xfrm>
            <a:off x="6518910" y="5426710"/>
            <a:ext cx="5412105" cy="1177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Sarcasm-R1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通过 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GRPO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强化学习将修辞-语境-情感三维推理内化为固有框架，赋予模型慢思考模式，在无需昂贵人工标注的前提下实现了高可解释性与高准确度。</a:t>
            </a:r>
            <a:endParaRPr lang="zh-CN" altLang="en-US" sz="1600">
              <a:solidFill>
                <a:schemeClr val="dk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图片 8" descr="mermaid-diagram-2026-06-01-2232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5955" y="644525"/>
            <a:ext cx="4393565" cy="482409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880745"/>
            <a:ext cx="6034405" cy="4370070"/>
          </a:xfrm>
          <a:prstGeom prst="rect">
            <a:avLst/>
          </a:prstGeom>
        </p:spPr>
      </p:pic>
      <p:sp>
        <p:nvSpPr>
          <p:cNvPr id="2" name="Google Shape;79;p3"/>
          <p:cNvSpPr txBox="1"/>
          <p:nvPr/>
        </p:nvSpPr>
        <p:spPr>
          <a:xfrm>
            <a:off x="683895" y="5316220"/>
            <a:ext cx="5412105" cy="1177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sz="1600">
                <a:solidFill>
                  <a:srgbClr val="11111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语用学提示词</a:t>
            </a:r>
            <a:r>
              <a:rPr sz="1600">
                <a:solidFill>
                  <a:srgbClr val="111111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通过 PMP 在提示层显式引导模型完成字面含义—语用违背—情感矛盾—语境校验—元认知反思的链式判断，以零微调方式提升讽刺识别的可解释性。</a:t>
            </a:r>
            <a:endParaRPr lang="zh-CN" altLang="en-US" sz="1600">
              <a:solidFill>
                <a:schemeClr val="dk1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/>
        </p:nvSpPr>
        <p:spPr>
          <a:xfrm>
            <a:off x="107950" y="139065"/>
            <a:ext cx="2844800" cy="50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Gothic" panose="020B0502020202020204"/>
              <a:buNone/>
            </a:pPr>
            <a:r>
              <a:rPr lang="zh-CN" sz="2700" b="1" i="0" u="none" strike="noStrike" cap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研究</a:t>
            </a:r>
            <a:r>
              <a:rPr lang="zh-CN" sz="2700" b="1" i="0" u="none" strike="noStrike" cap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方法</a:t>
            </a:r>
            <a:endParaRPr lang="zh-CN" sz="2700" b="1" i="0" u="none" strike="noStrike" cap="none">
              <a:solidFill>
                <a:srgbClr val="000000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4385" y="644525"/>
            <a:ext cx="6190615" cy="3116580"/>
          </a:xfrm>
          <a:prstGeom prst="rect">
            <a:avLst/>
          </a:prstGeom>
        </p:spPr>
      </p:pic>
      <p:sp>
        <p:nvSpPr>
          <p:cNvPr id="5" name="Google Shape;79;p3"/>
          <p:cNvSpPr txBox="1"/>
          <p:nvPr/>
        </p:nvSpPr>
        <p:spPr>
          <a:xfrm>
            <a:off x="5874385" y="4093845"/>
            <a:ext cx="6078855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混合模型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PMP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语用元认知推理与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RCE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修辞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语境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情感三维结构化推理结合起来，并通过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GRPO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对模型策略进行优化。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PMP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用于分析隐含意义、说话人意图与态度伪装；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RCE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用于从修辞、语境和情感三个维度验证讽刺证据。在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GRPO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训练中，模型以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分类结果、输出格式、覆盖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PMP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语用维度和覆盖</a:t>
            </a:r>
            <a:r>
              <a:rPr lang="en-US" altLang="zh-CN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RCE </a:t>
            </a:r>
            <a:r>
              <a:rPr lang="zh-CN" altLang="en-US" sz="1600">
                <a:solidFill>
                  <a:schemeClr val="dk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三维证据而获得奖励。</a:t>
            </a:r>
            <a:endParaRPr lang="en-US" altLang="zh-CN" sz="1600">
              <a:solidFill>
                <a:schemeClr val="dk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" y="537845"/>
            <a:ext cx="4377055" cy="6319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47d8f87f3_0_78"/>
          <p:cNvSpPr txBox="1"/>
          <p:nvPr/>
        </p:nvSpPr>
        <p:spPr>
          <a:xfrm>
            <a:off x="107950" y="139065"/>
            <a:ext cx="2765425" cy="50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Gothic" panose="020B0502020202020204"/>
              <a:buNone/>
            </a:pPr>
            <a:r>
              <a:rPr lang="zh-CN" sz="2700" b="1"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实验</a:t>
            </a:r>
            <a:r>
              <a:rPr lang="zh-CN" sz="2700" b="1"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结论</a:t>
            </a:r>
            <a:endParaRPr lang="zh-CN" sz="2700" b="1"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2" name="Google Shape;79;p3"/>
          <p:cNvSpPr txBox="1"/>
          <p:nvPr/>
        </p:nvSpPr>
        <p:spPr>
          <a:xfrm>
            <a:off x="3188335" y="0"/>
            <a:ext cx="631126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</a:rPr>
              <a:t>基础模型：</a:t>
            </a:r>
            <a:r>
              <a:rPr lang="en-US" altLang="zh-CN" sz="1900">
                <a:solidFill>
                  <a:schemeClr val="dk1"/>
                </a:solidFill>
              </a:rPr>
              <a:t> Qwen 3.0-14B</a:t>
            </a:r>
            <a:endParaRPr lang="en-US" altLang="zh-CN" sz="19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r>
              <a:rPr lang="zh-CN" altLang="en-US" sz="1900">
                <a:solidFill>
                  <a:schemeClr val="dk1"/>
                </a:solidFill>
              </a:rPr>
              <a:t>数据集：</a:t>
            </a:r>
            <a:r>
              <a:rPr lang="en-US" altLang="zh-CN" sz="1900">
                <a:solidFill>
                  <a:schemeClr val="dk1"/>
                </a:solidFill>
              </a:rPr>
              <a:t>SemEval-200</a:t>
            </a:r>
            <a:r>
              <a:rPr lang="zh-CN" altLang="en-US" sz="1900">
                <a:solidFill>
                  <a:schemeClr val="dk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900">
                <a:solidFill>
                  <a:schemeClr val="dk1"/>
                </a:solidFill>
                <a:ea typeface="宋体" panose="02010600030101010101" pitchFamily="2" charset="-122"/>
              </a:rPr>
              <a:t>SemEval-784</a:t>
            </a:r>
            <a:r>
              <a:rPr lang="zh-CN" altLang="en-US" sz="1900">
                <a:solidFill>
                  <a:schemeClr val="dk1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900">
                <a:solidFill>
                  <a:schemeClr val="dk1"/>
                </a:solidFill>
              </a:rPr>
              <a:t>MUStARD</a:t>
            </a:r>
            <a:endParaRPr lang="en-US" altLang="zh-CN" sz="1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None/>
            </a:pPr>
            <a:endParaRPr lang="zh-CN" altLang="en-US" sz="1900">
              <a:solidFill>
                <a:schemeClr val="dk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18790"/>
            <a:ext cx="5867400" cy="3559810"/>
          </a:xfrm>
          <a:prstGeom prst="rect">
            <a:avLst/>
          </a:prstGeom>
        </p:spPr>
      </p:pic>
      <p:sp>
        <p:nvSpPr>
          <p:cNvPr id="6" name="Google Shape;79;p3"/>
          <p:cNvSpPr txBox="1"/>
          <p:nvPr/>
        </p:nvSpPr>
        <p:spPr>
          <a:xfrm>
            <a:off x="1507490" y="2374265"/>
            <a:ext cx="285242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>
                <a:sym typeface="+mn-ea"/>
              </a:rPr>
              <a:t>不同 </a:t>
            </a:r>
            <a:r>
              <a:rPr lang="en-US" altLang="zh-CN" sz="1600">
                <a:sym typeface="+mn-ea"/>
              </a:rPr>
              <a:t>Prompt </a:t>
            </a:r>
            <a:r>
              <a:rPr lang="zh-CN" altLang="en-US" sz="1600">
                <a:sym typeface="+mn-ea"/>
              </a:rPr>
              <a:t>策略的性能对比</a:t>
            </a:r>
            <a:endParaRPr lang="zh-CN" altLang="en-US" sz="1600"/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>
              <a:solidFill>
                <a:schemeClr val="dk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981710"/>
            <a:ext cx="6324600" cy="2511425"/>
          </a:xfrm>
          <a:prstGeom prst="rect">
            <a:avLst/>
          </a:prstGeom>
        </p:spPr>
      </p:pic>
      <p:sp>
        <p:nvSpPr>
          <p:cNvPr id="10" name="Google Shape;79;p3"/>
          <p:cNvSpPr txBox="1"/>
          <p:nvPr/>
        </p:nvSpPr>
        <p:spPr>
          <a:xfrm>
            <a:off x="7021195" y="3621405"/>
            <a:ext cx="4561205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GRPO 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强化学习前后性能</a:t>
            </a:r>
            <a:r>
              <a:rPr lang="zh-CN" altLang="en-US" sz="160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对比</a:t>
            </a:r>
            <a:endParaRPr lang="zh-CN" altLang="en-US" sz="160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47d8f87f3_0_78"/>
          <p:cNvSpPr txBox="1"/>
          <p:nvPr/>
        </p:nvSpPr>
        <p:spPr>
          <a:xfrm>
            <a:off x="107950" y="139065"/>
            <a:ext cx="2765425" cy="50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entury Gothic" panose="020B0502020202020204"/>
              <a:buNone/>
            </a:pPr>
            <a:r>
              <a:rPr lang="zh-CN" sz="2700" b="1"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实验</a:t>
            </a:r>
            <a:r>
              <a:rPr lang="zh-CN" sz="2700" b="1"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结论</a:t>
            </a:r>
            <a:endParaRPr lang="zh-CN" sz="2700" b="1"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1710"/>
            <a:ext cx="12192000" cy="4874895"/>
          </a:xfrm>
          <a:prstGeom prst="rect">
            <a:avLst/>
          </a:prstGeom>
        </p:spPr>
      </p:pic>
      <p:sp>
        <p:nvSpPr>
          <p:cNvPr id="2" name="Google Shape;79;p3"/>
          <p:cNvSpPr>
            <a:spLocks noGrp="1"/>
          </p:cNvSpPr>
          <p:nvPr/>
        </p:nvSpPr>
        <p:spPr>
          <a:xfrm>
            <a:off x="2258060" y="0"/>
            <a:ext cx="8035290" cy="98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/>
              <a:t>Framework1: PMP</a:t>
            </a:r>
            <a:r>
              <a:rPr lang="zh-CN" altLang="en-US" sz="1900"/>
              <a:t>引导</a:t>
            </a:r>
            <a:r>
              <a:rPr lang="en-US" altLang="zh-CN" sz="1900"/>
              <a:t>     Framework2 :RCE</a:t>
            </a:r>
            <a:r>
              <a:rPr lang="zh-CN" altLang="en-US" sz="1900"/>
              <a:t>结构化推理</a:t>
            </a:r>
            <a:endParaRPr lang="en-US" altLang="zh-CN" sz="1900"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/>
              <a:t>Framework3: PMP</a:t>
            </a:r>
            <a:r>
              <a:rPr lang="zh-CN" altLang="en-US" sz="1900"/>
              <a:t>引导</a:t>
            </a:r>
            <a:r>
              <a:rPr lang="en-US" altLang="zh-CN" sz="1900"/>
              <a:t> + RCE</a:t>
            </a:r>
            <a:r>
              <a:rPr lang="zh-CN" altLang="en-US" sz="1900"/>
              <a:t>结构化推理</a:t>
            </a:r>
            <a:endParaRPr lang="zh-CN" altLang="en-US" sz="1900"/>
          </a:p>
        </p:txBody>
      </p:sp>
      <p:sp>
        <p:nvSpPr>
          <p:cNvPr id="1" name="文本框 0"/>
          <p:cNvSpPr txBox="1"/>
          <p:nvPr/>
        </p:nvSpPr>
        <p:spPr>
          <a:xfrm>
            <a:off x="520065" y="5856605"/>
            <a:ext cx="108324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/>
              <a:t> </a:t>
            </a:r>
            <a:r>
              <a:rPr lang="en-US" altLang="zh-CN" sz="1600"/>
              <a:t>GRPO </a:t>
            </a:r>
            <a:r>
              <a:rPr lang="zh-CN" altLang="en-US" sz="1600"/>
              <a:t>训练不够充分，且采用</a:t>
            </a:r>
            <a:r>
              <a:rPr lang="en-US" altLang="zh-CN" sz="1600"/>
              <a:t>rule-based</a:t>
            </a:r>
            <a:r>
              <a:rPr lang="zh-CN" altLang="en-US" sz="1600"/>
              <a:t>奖励模型，模型未真正内化修辞、语境和情感结构化推理。</a:t>
            </a:r>
            <a:endParaRPr lang="zh-CN" altLang="en-US" sz="1600"/>
          </a:p>
          <a:p>
            <a:pPr algn="ctr"/>
            <a:r>
              <a:rPr lang="zh-CN" altLang="en-US" sz="1600"/>
              <a:t>未来可以通过更充分的 </a:t>
            </a:r>
            <a:r>
              <a:rPr lang="en-US" altLang="zh-CN" sz="1600"/>
              <a:t>GRPO </a:t>
            </a:r>
            <a:r>
              <a:rPr lang="zh-CN" altLang="en-US" sz="1600"/>
              <a:t>训练，以及在更多不同模型上测试，进一步验证混合框架的效果和泛化性。</a:t>
            </a:r>
            <a:endParaRPr lang="zh-CN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3.20141732283464,&quot;left&quot;:345.2911023622046,&quot;top&quot;:354.37779527559053,&quot;width&quot;:291.16874015748044}"/>
</p:tagLst>
</file>

<file path=ppt/tags/tag2.xml><?xml version="1.0" encoding="utf-8"?>
<p:tagLst xmlns:p="http://schemas.openxmlformats.org/presentationml/2006/main">
  <p:tag name="KSO_WM_DIAGRAM_VIRTUALLY_FRAME" val="{&quot;height&quot;:73.20141732283464,&quot;left&quot;:345.2911023622046,&quot;top&quot;:354.37779527559053,&quot;width&quot;:291.16874015748044}"/>
</p:tagLst>
</file>

<file path=ppt/tags/tag3.xml><?xml version="1.0" encoding="utf-8"?>
<p:tagLst xmlns:p="http://schemas.openxmlformats.org/presentationml/2006/main">
  <p:tag name="KSO_WM_DIAGRAM_VIRTUALLY_FRAME" val="{&quot;height&quot;:73.20141732283464,&quot;left&quot;:345.2911023622046,&quot;top&quot;:354.37779527559053,&quot;width&quot;:291.16874015748044}"/>
</p:tagLst>
</file>

<file path=ppt/tags/tag4.xml><?xml version="1.0" encoding="utf-8"?>
<p:tagLst xmlns:p="http://schemas.openxmlformats.org/presentationml/2006/main">
  <p:tag name="KSO_WM_DIAGRAM_VIRTUALLY_FRAME" val="{&quot;height&quot;:73.20141732283464,&quot;left&quot;:345.2911023622046,&quot;top&quot;:354.37779527559053,&quot;width&quot;:291.16874015748044}"/>
</p:tagLst>
</file>

<file path=ppt/tags/tag5.xml><?xml version="1.0" encoding="utf-8"?>
<p:tagLst xmlns:p="http://schemas.openxmlformats.org/presentationml/2006/main">
  <p:tag name="KSO_WM_DIAGRAM_VIRTUALLY_FRAME" val="{&quot;height&quot;:73.20141732283464,&quot;left&quot;:345.2911023622046,&quot;top&quot;:354.37779527559053,&quot;width&quot;:291.16874015748044}"/>
</p:tagLst>
</file>

<file path=ppt/tags/tag6.xml><?xml version="1.0" encoding="utf-8"?>
<p:tagLst xmlns:p="http://schemas.openxmlformats.org/presentationml/2006/main">
  <p:tag name="KSO_WM_DIAGRAM_VIRTUALLY_FRAME" val="{&quot;height&quot;:73.20141732283464,&quot;left&quot;:345.2911023622046,&quot;top&quot;:354.37779527559053,&quot;width&quot;:291.16874015748044}"/>
</p:tagLst>
</file>

<file path=ppt/tags/tag7.xml><?xml version="1.0" encoding="utf-8"?>
<p:tagLst xmlns:p="http://schemas.openxmlformats.org/presentationml/2006/main">
  <p:tag name="KSO_WM_DIAGRAM_VIRTUALLY_FRAME" val="{&quot;height&quot;:73.20141732283464,&quot;left&quot;:345.2911023622046,&quot;top&quot;:354.37779527559053,&quot;width&quot;:291.16874015748044}"/>
</p:tagLst>
</file>

<file path=ppt/theme/theme1.xml><?xml version="1.0" encoding="utf-8"?>
<a:theme xmlns:a="http://schemas.openxmlformats.org/drawingml/2006/main" name="Office Theme">
  <a:themeElements>
    <a:clrScheme name="中性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中性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WPS 演示</Application>
  <PresentationFormat/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Arial</vt:lpstr>
      <vt:lpstr>Century Gothic</vt:lpstr>
      <vt:lpstr>微软雅黑</vt:lpstr>
      <vt:lpstr>Times New Roman</vt:lpstr>
      <vt:lpstr>Wingdings</vt:lpstr>
      <vt:lpstr>Arial Bold</vt:lpstr>
      <vt:lpstr>Noto Sans Symbols</vt:lpstr>
      <vt:lpstr>华文宋体</vt:lpstr>
      <vt:lpstr>Arial Unicode MS</vt:lpstr>
      <vt:lpstr>Segoe Print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PLUS</dc:creator>
  <cp:lastModifiedBy>罗文韬</cp:lastModifiedBy>
  <cp:revision>62</cp:revision>
  <dcterms:created xsi:type="dcterms:W3CDTF">2025-12-25T04:47:00Z</dcterms:created>
  <dcterms:modified xsi:type="dcterms:W3CDTF">2026-06-02T03:36:21Z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ICV">
    <vt:lpwstr>C1F0F48FB0E1405EBD4AD67FAB0F3C6F_13</vt:lpwstr>
  </property>
  <property fmtid="{D5CDD505-2E9C-101B-9397-08002B2CF9AE}" pid="4" name="KSOProductBuildVer">
    <vt:lpwstr>2052-12.1.0.26375</vt:lpwstr>
  </property>
</Properties>
</file>